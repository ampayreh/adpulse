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AdPulse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CADCFC"/>
                </a:solidFill>
                <a:latin typeface="Calibri"/>
              </a:defRPr>
            </a:pPr>
            <a:r>
              <a:t>AI-Powered Ad Campaign Performance Analyzer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291840"/>
            <a:ext cx="3931920" cy="1828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MSIS 521 -- IT and Marketing in the New Economy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Winter Quarter 2025  |  University of Washington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CADCFC"/>
                </a:solidFill>
                <a:latin typeface="Calibri"/>
              </a:defRPr>
            </a:pPr>
            <a:r>
              <a:t>Team 6 -- Purple Cohort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949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Graeme Ampeire  |  Soumya Thareja  |  Tiffany Nakamitsu  |  Akanksha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Why brands need better ad performance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20040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2926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6B6B"/>
                </a:solidFill>
                <a:latin typeface="Calibri"/>
              </a:defRPr>
            </a:pPr>
            <a:r>
              <a:t>$7M+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5176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Cost per 30-sec</a:t>
            </a:r>
            <a:br/>
            <a:r>
              <a:t>Super Bowl ad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566160"/>
            <a:ext cx="320040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2926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891B2"/>
                </a:solidFill>
                <a:latin typeface="Calibri"/>
              </a:defRPr>
            </a:pPr>
            <a:r>
              <a:t>113M+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Average Super Bowl</a:t>
            </a:r>
            <a:br/>
            <a:r>
              <a:t>viewers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5120640"/>
            <a:ext cx="320040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212080"/>
            <a:ext cx="292608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50+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760720"/>
            <a:ext cx="2926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Ads per game,</a:t>
            </a:r>
            <a:br/>
            <a:r>
              <a:t>limited 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  <a:buChar char="•"/>
            </a:pPr>
            <a:r>
              <a:t>Brands invest millions but rely on subjective measures of ad success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  <a:buChar char="•"/>
            </a:pPr>
            <a:r>
              <a:t>Traditional metrics (TV ratings, reach) miss the digital conversation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  <a:buChar char="•"/>
            </a:pPr>
            <a:r>
              <a:t>No unified tool to analyze engagement, sentiment, and themes at scale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  <a:latin typeface="Calibri"/>
              </a:defRPr>
              <a:buChar char="•"/>
            </a:pPr>
            <a:r>
              <a:t>Marketers need data-driven insights to optimize future campaigns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Our Solution: AdPulse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An 11-page AI dashboard covering 21 course techniques across 5 sessions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474720" cy="1920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19202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Dashboard &amp; Rankings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KPI metrics, composite scoring,</a:t>
            </a:r>
            <a:br/>
            <a:r>
              <a:t>brand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828800"/>
            <a:ext cx="3474720" cy="1920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828800"/>
            <a:ext cx="54864" cy="19202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201168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Feature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246888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Which ad characteristics</a:t>
            </a:r>
            <a:br/>
            <a:r>
              <a:t>drive engagement (lift 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598" y="1828800"/>
            <a:ext cx="3474720" cy="1920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598" y="1828800"/>
            <a:ext cx="54864" cy="19202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198" y="201168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Sentiment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8" y="246888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VADER &amp; BERT NLP on</a:t>
            </a:r>
            <a:br/>
            <a:r>
              <a:t>ad descriptions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3474720" cy="1920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54864" cy="1920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0624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Text Analysis &amp; Clustering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66344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TF-IDF, Word2Vec, K-Means,</a:t>
            </a:r>
            <a:br/>
            <a:r>
              <a:t>hierarchical clustering, t-SNE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023360"/>
            <a:ext cx="3474720" cy="1920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4023360"/>
            <a:ext cx="54864" cy="1920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59" y="420624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Network &amp; Crowd Intel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59" y="466344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Brand networks, centrality,</a:t>
            </a:r>
            <a:br/>
            <a:r>
              <a:t>Wisdom of Crowds scoring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598" y="4023360"/>
            <a:ext cx="3474720" cy="19202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598" y="4023360"/>
            <a:ext cx="54864" cy="19202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198" y="4206240"/>
            <a:ext cx="30175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500" b="1">
                <a:solidFill>
                  <a:srgbClr val="1E293B"/>
                </a:solidFill>
                <a:latin typeface="Calibri"/>
              </a:defRPr>
            </a:pPr>
            <a:r>
              <a:t>SEM Performance Lab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198" y="4663440"/>
            <a:ext cx="30175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CPV, CPE, Quality Score, ROI</a:t>
            </a:r>
            <a:br/>
            <a:r>
              <a:t>(Air France case approach)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Real-world dataset from FiveThirtyEight / TidyTuesday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011680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737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891B2"/>
                </a:solidFill>
                <a:latin typeface="Calibri"/>
              </a:defRPr>
            </a:pPr>
            <a:r>
              <a:t>247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Super Bowl 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828800"/>
            <a:ext cx="2011680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920240"/>
            <a:ext cx="1737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891B2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4688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Major Brands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1828800"/>
            <a:ext cx="2011680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920240"/>
            <a:ext cx="1737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891B2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4688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Years (2000-2020)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06640" y="1828800"/>
            <a:ext cx="2011680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43800" y="1920240"/>
            <a:ext cx="1737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891B2"/>
                </a:solidFill>
                <a:latin typeface="Calibri"/>
              </a:defRPr>
            </a:pPr>
            <a:r>
              <a:t>207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24688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Video Descriptions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92640" y="1828800"/>
            <a:ext cx="2011680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29800" y="1920240"/>
            <a:ext cx="17373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891B2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468880"/>
            <a:ext cx="17373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Data Columns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47472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Ad characteristics: funny, celebrity, patriotic, danger, animals, use_sex, show_product_quickly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YouTube engagement: views, likes, dislikes, comments, favorites</a:t>
            </a:r>
          </a:p>
          <a:p>
            <a:pPr>
              <a:spcAft>
                <a:spcPts val="600"/>
              </a:spcAft>
              <a:defRPr sz="1400">
                <a:solidFill>
                  <a:srgbClr val="1E293B"/>
                </a:solidFill>
                <a:latin typeface="Calibri"/>
              </a:defRPr>
              <a:buChar char="•"/>
            </a:pPr>
            <a:r>
              <a:t>Video metadata: title, description, publish date, channel, thumbnail URL</a:t>
            </a:r>
          </a:p>
        </p:txBody>
      </p:sp>
      <p:pic>
        <p:nvPicPr>
          <p:cNvPr id="21" name="Picture 20" descr="brand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291840"/>
            <a:ext cx="43891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End-to-end AI pipeline built in Python</a:t>
            </a:r>
          </a:p>
        </p:txBody>
      </p:sp>
      <p:pic>
        <p:nvPicPr>
          <p:cNvPr id="5" name="Picture 4" descr="pipelin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11247120" cy="2926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12064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AI/NLP:  VADER + BERT sentiment, LDA topics, Word2Vec embeddings, TF-IDF, K-Means, t-SNE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68112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Networks:  NetworkX graph analysis, Pyvis visualization, PageRank, 4 centrality 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15584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SEM:  CPV/CPE/ROI metrics, Quality Score proxy, keyword strategy, publisher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63056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Viz + App:  Plotly interactive charts, Streamlit 11-page dashboard, real-time filtering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What Makes an Ad Successful?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Feature impact analysis from 247 Super Bowl ads</a:t>
            </a:r>
          </a:p>
        </p:txBody>
      </p:sp>
      <p:pic>
        <p:nvPicPr>
          <p:cNvPr id="5" name="Picture 4" descr="feature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7724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03920" y="2286000"/>
            <a:ext cx="3200400" cy="3200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3920" y="2286000"/>
            <a:ext cx="54864" cy="3200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2468880"/>
            <a:ext cx="28346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Key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9260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Show Product Quickly: +70% views lift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Patriotic themes: +33% lift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Funny ads: +12% lift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Celebrity ads actually get fewer views (-54%)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NLP Analysis: Sentiment &amp;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VADER + BERT sentiment, LDA topic modeling</a:t>
            </a:r>
          </a:p>
        </p:txBody>
      </p:sp>
      <p:pic>
        <p:nvPicPr>
          <p:cNvPr id="5" name="Picture 4" descr="sentiment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5720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0" y="1828800"/>
            <a:ext cx="6217920" cy="4114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1828800"/>
            <a:ext cx="54864" cy="4114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2011680"/>
            <a:ext cx="56692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Dual Sentiment + Topic Modeling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560320"/>
            <a:ext cx="5669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VADER: Rule-based lexicon scoring (fast, interpretable)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BERT: Deep learning contextual analysis (nlptown model)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Side-by-side comparison reveals agreement and divergence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LDA topic modeling discovers 5 latent themes in ad copy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Word clouds and topic quality scoring (distinctness metric)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Text Analysis &amp;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TF-IDF, Word2Vec, cosine similarity, K-Means, hierarchical clustering (Sessions 2 &amp; 3)</a:t>
            </a:r>
          </a:p>
        </p:txBody>
      </p:sp>
      <p:pic>
        <p:nvPicPr>
          <p:cNvPr id="5" name="Picture 4" descr="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943600" cy="3657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75120" y="1828800"/>
            <a:ext cx="5029200" cy="4572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0" y="1828800"/>
            <a:ext cx="54864" cy="4572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21031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TF-IDF Vectorization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23317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Identifies each brand's most distinctive ad vocabulary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6974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Word2Vec Embeddings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9260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Learns semantic word relationships from ad corpus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2918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t-SNE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352044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Projects high-dim embeddings to interactive 2D scatter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8862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Cosine Similarity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411480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Measures content similarity between ad descriptions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44805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Jaccard Similarity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70916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Compares brands by shared feature profiles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50749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K-Means Clustering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530352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Groups ads by content + features into clusters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56692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1E293B"/>
                </a:solidFill>
                <a:latin typeface="Calibri"/>
              </a:defRPr>
            </a:pPr>
            <a:r>
              <a:t>Hierarchical Clustering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5897880"/>
            <a:ext cx="4572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Dendrogram reveals brand strategy relationships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Network &amp; Crowd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Brand influence networks, centrality analysis, Wisdom of Crowds (Session 6)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43891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43891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Brand Strategy Network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10 brand nodes, edges weighted by strategy similarity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Interactive Pyvis force-directed graph in dashboard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Node size = total engagement, edge width = similarity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Centrality Measures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Degree: connectivity / popularity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Betweenness: bridge role between clusters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Closeness: accessibility to all other ads</a:t>
            </a:r>
          </a:p>
          <a:p>
            <a:pPr>
              <a:spcAft>
                <a:spcPts val="600"/>
              </a:spcAft>
              <a:defRPr sz="1200">
                <a:solidFill>
                  <a:srgbClr val="1E293B"/>
                </a:solidFill>
                <a:latin typeface="Calibri"/>
              </a:defRPr>
              <a:buChar char="•"/>
            </a:pPr>
            <a:r>
              <a:t>PageRank: influence based on connection quality</a:t>
            </a:r>
          </a:p>
        </p:txBody>
      </p:sp>
      <p:pic>
        <p:nvPicPr>
          <p:cNvPr id="11" name="Picture 10" descr="woc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28800"/>
            <a:ext cx="5486400" cy="3474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394960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Surowiecki's 4 conditions evaluated against the Super Bowl ad ecosystem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SEM Performance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Super Bowl ads through an SEM lens (Session 5 -- Air France case study approach)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265176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265176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891B2"/>
                </a:solidFill>
                <a:latin typeface="Calibri"/>
              </a:defRPr>
            </a:pPr>
            <a:r>
              <a:t>CPV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Cost Per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Estimated ad cost /</a:t>
            </a:r>
            <a:br/>
            <a:r>
              <a:t>YouTube view 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2011680"/>
            <a:ext cx="265176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011680"/>
            <a:ext cx="265176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21488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FF6B6B"/>
                </a:solidFill>
                <a:latin typeface="Calibri"/>
              </a:defRPr>
            </a:pPr>
            <a:r>
              <a:t>CPE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603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Cost Per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2608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Estimated ad cost /</a:t>
            </a:r>
            <a:br/>
            <a:r>
              <a:t>(likes + comments)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011680"/>
            <a:ext cx="265176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011680"/>
            <a:ext cx="265176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1488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8B5CF6"/>
                </a:solidFill>
                <a:latin typeface="Calibri"/>
              </a:defRPr>
            </a:pPr>
            <a:r>
              <a:t>Quality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603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0-10 Proxy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2608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Engagement rate +</a:t>
            </a:r>
            <a:br/>
            <a:r>
              <a:t>like ratio + views rank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2011680"/>
            <a:ext cx="265176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26880" y="2011680"/>
            <a:ext cx="265176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2148840"/>
            <a:ext cx="22860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>
                <a:solidFill>
                  <a:srgbClr val="059669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560320"/>
            <a:ext cx="2286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>
                <a:solidFill>
                  <a:srgbClr val="1E293B"/>
                </a:solidFill>
                <a:latin typeface="Calibri"/>
              </a:defRPr>
            </a:pPr>
            <a:r>
              <a:t>Return on Ad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926080"/>
            <a:ext cx="2286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Engagement score /</a:t>
            </a:r>
            <a:br/>
            <a:r>
              <a:t>estimated $ spent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891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1E293B"/>
                </a:solidFill>
                <a:latin typeface="Calibri"/>
              </a:defRPr>
            </a:pPr>
            <a:r>
              <a:t>Publisher-Style Brand Comparison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463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Ranks 10 brands like SEM publishers (mirroring Air France case)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Brands compared by CPV, CPE, ROI, and Quality Score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Keyword strategy analysis with TF-IDF term categorization</a:t>
            </a:r>
          </a:p>
          <a:p>
            <a:pPr>
              <a:spcAft>
                <a:spcPts val="600"/>
              </a:spcAft>
              <a:defRPr sz="1300">
                <a:solidFill>
                  <a:srgbClr val="1E293B"/>
                </a:solidFill>
                <a:latin typeface="Calibri"/>
              </a:defRPr>
              <a:buChar char="•"/>
            </a:pPr>
            <a:r>
              <a:t>Feature-based strategy recommendation engine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Course Concept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21 techniques spanning 5 of 6 course sessions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194560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1920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891B2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468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Techniques</a:t>
            </a:r>
            <a:br/>
            <a:r>
              <a:t>Implemented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828800"/>
            <a:ext cx="2194560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63240" y="1920240"/>
            <a:ext cx="1920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8B5CF6"/>
                </a:solidFill>
                <a:latin typeface="Calibri"/>
              </a:defRPr>
            </a:pPr>
            <a:r>
              <a:t>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468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Course Sessions</a:t>
            </a:r>
            <a:br/>
            <a:r>
              <a:t>Covered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0" y="1828800"/>
            <a:ext cx="2194560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40680" y="1920240"/>
            <a:ext cx="1920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059669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468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Dashboard</a:t>
            </a:r>
            <a:br/>
            <a:r>
              <a:t>Pages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1828800"/>
            <a:ext cx="2194560" cy="11887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920240"/>
            <a:ext cx="19202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F6B6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4688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64748B"/>
                </a:solidFill>
                <a:latin typeface="Calibri"/>
              </a:defRPr>
            </a:pPr>
            <a:r>
              <a:t>Validation</a:t>
            </a:r>
            <a:br/>
            <a:r>
              <a:t>Methods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474720"/>
            <a:ext cx="54864" cy="5486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520440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S1: Web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520440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Google Trends integration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33088"/>
            <a:ext cx="54864" cy="54864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17880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S2: Word Embedding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178808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TF-IDF, Word2Vec, t-SNE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791456"/>
            <a:ext cx="54864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837176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S3: Text Analysis &amp; LLMs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4837176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VADER, BERT, cosine similarity, Jaccard, K-Means, hierarchical clustering, LDA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449824"/>
            <a:ext cx="54864" cy="5486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495544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S5: SEM/SEO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5495544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CPV, CPE, ROI, Quality Score, keyword strategy, publisher comparison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6108192"/>
            <a:ext cx="54864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6153912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S6: Social Networks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0" y="6153912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NetworkX, degree/betweenness/closeness/PageRank centrality, Wisdom of Crowds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Output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6 validation methods ensuring AI outputs are reliable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356616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54864" cy="2011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Sentiment Distribution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743200"/>
            <a:ext cx="32918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Flags if &gt;95% single class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356616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54864" cy="2011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Known-Sample 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743200"/>
            <a:ext cx="32918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834640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5 test cases, 80% 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356616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828800"/>
            <a:ext cx="54864" cy="20116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0116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Topic Distinctness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66760" y="2743200"/>
            <a:ext cx="32918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834640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8B5CF6"/>
                </a:solidFill>
                <a:latin typeface="Calibri"/>
              </a:defRPr>
            </a:pPr>
            <a:r>
              <a:t>Cosine distance score: 0.312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114800"/>
            <a:ext cx="356616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54864" cy="2011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BERT vs VADER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5029200"/>
            <a:ext cx="32918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120640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6B6B"/>
                </a:solidFill>
                <a:latin typeface="Calibri"/>
              </a:defRPr>
            </a:pPr>
            <a:r>
              <a:t>Agreement rate comparison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89120" y="4114800"/>
            <a:ext cx="356616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89120" y="4114800"/>
            <a:ext cx="54864" cy="20116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2976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Wisdom of Crowds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5029200"/>
            <a:ext cx="32918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3440" y="5120640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59669"/>
                </a:solidFill>
                <a:latin typeface="Calibri"/>
              </a:defRPr>
            </a:pPr>
            <a:r>
              <a:t>4-condition scoring system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4114800"/>
            <a:ext cx="3566160" cy="20116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4114800"/>
            <a:ext cx="54864" cy="20116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4297680"/>
            <a:ext cx="31089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1E293B"/>
                </a:solidFill>
                <a:latin typeface="Calibri"/>
              </a:defRPr>
            </a:pPr>
            <a:r>
              <a:t>SEM Benchmarking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66760" y="5029200"/>
            <a:ext cx="329184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03920" y="5120640"/>
            <a:ext cx="30175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Industry cost 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1E293B"/>
                </a:solidFill>
                <a:latin typeface="Calibri"/>
              </a:defRPr>
            </a:pPr>
            <a:r>
              <a:t>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4864" cy="7132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9844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Show Product Quickly wins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298448"/>
            <a:ext cx="7132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Ads that show the product early get 70% more views. Clarity beats cleverness.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148840"/>
            <a:ext cx="54864" cy="7132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6712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Celebrity doesn't guarantee success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67128"/>
            <a:ext cx="7132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Celebrity ads averaged 54% fewer views. The product and story matter more.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017520"/>
            <a:ext cx="54864" cy="7132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Brands cluster into strategy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035808"/>
            <a:ext cx="7132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Hierarchical clustering reveals beer brands (Bud Light, Budweiser) and tech brands (Hyundai, Kia, Toyota) use similar strategies.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86200"/>
            <a:ext cx="54864" cy="7132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0448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Network analysis reveals bridge brands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904488"/>
            <a:ext cx="7132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Some brands' ads bridge different content clusters, connecting humor-based and product-focused strategies.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754880"/>
            <a:ext cx="54864" cy="713232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77316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Crowd wisdom is moderate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773168"/>
            <a:ext cx="7132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The Super Bowl ad ecosystem scores ~41/100 on Wisdom of Crowds -- showing herding behavior among brands.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623560"/>
            <a:ext cx="54864" cy="7132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641848"/>
            <a:ext cx="34747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1E293B"/>
                </a:solidFill>
                <a:latin typeface="Calibri"/>
              </a:defRPr>
            </a:pPr>
            <a:r>
              <a:t>SEM efficiency varies 10x across brands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641848"/>
            <a:ext cx="7132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64748B"/>
                </a:solidFill>
                <a:latin typeface="Calibri"/>
              </a:defRPr>
            </a:pPr>
            <a:r>
              <a:t>Cost per view ranges from $0.50 to $50+ across brands, revealing massive efficiency gaps.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0">
                <a:solidFill>
                  <a:srgbClr val="CADCFC"/>
                </a:solidFill>
                <a:latin typeface="Calibri"/>
              </a:defRPr>
            </a:pPr>
            <a:r>
              <a:t>AdPulse v2 -- 11-Page Interactive Streamlit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931920"/>
            <a:ext cx="3931920" cy="1828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64748B"/>
                </a:solidFill>
                <a:latin typeface="Consolas"/>
              </a:defRPr>
            </a:pPr>
            <a:r>
              <a:t>streamlit run app.py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0">
                <a:solidFill>
                  <a:srgbClr val="CADCFC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566160"/>
            <a:ext cx="3931920" cy="18288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500" b="1">
                <a:solidFill>
                  <a:srgbClr val="CADCFC"/>
                </a:solidFill>
                <a:latin typeface="Calibri"/>
              </a:defRPr>
            </a:pPr>
            <a:r>
              <a:t>Team 6 -- Purple Cohort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Graeme Ampeire  |  Soumya Thareja  |  Tiffany Nakamitsu  |  Akanksha Singh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0">
                <a:solidFill>
                  <a:srgbClr val="64748B"/>
                </a:solidFill>
                <a:latin typeface="Calibri"/>
              </a:defRPr>
            </a:pPr>
            <a:r>
              <a:t>AdPulse  |  AI-Powered Ad Campaign Performance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MSIS 521 -- Winter 2025 -- University of Washington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